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ACC15"/>
                </a:solidFill>
                <a:latin typeface="Calibri"/>
              </a:defRPr>
            </a:pPr>
            <a:r>
              <a:t>Blinkit Customer Problem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Calibri"/>
              </a:defRPr>
            </a:pPr>
            <a:r>
              <a:t>Sources: Dashboard NLP Analysis (barriers, frustrations, segments, RICE scores)  +  Web Sentiment (CurlyTales, ZeeNews, Udit Vani, Reddit, X/Twitter)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1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3749039" cy="274320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3429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1">
                <a:solidFill>
                  <a:srgbClr val="F87171"/>
                </a:solidFill>
                <a:latin typeface="Calibri"/>
              </a:defRPr>
            </a:pPr>
            <a:r>
              <a:t>PROBLEM 1</a:t>
            </a:r>
          </a:p>
          <a:p>
            <a:pPr>
              <a:spcAft>
                <a:spcPts val="100"/>
              </a:spcAft>
              <a:defRPr sz="1400" b="1">
                <a:solidFill>
                  <a:srgbClr val="F87171"/>
                </a:solidFill>
                <a:latin typeface="Calibri"/>
              </a:defRPr>
            </a:pPr>
            <a:r>
              <a:t>Delayed &amp; Unreliable Deliveries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Dashboard Evidence: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Barrier severity: 9.2 / 10  (highest)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RICE Score: 87  --  Status: CRITICAL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342 review mentions (top opportunity area)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Delivery Speed: Blinkit 72% vs Zepto 85%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Sentiment Quadrant: HIGH impact + HIGH negative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NLP frustration theme: 'late delivery' = HIGH impact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6B7280"/>
                </a:solidFill>
                <a:latin typeface="Calibri"/>
              </a:defRPr>
            </a:pPr>
            <a:r>
              <a:t>Web Evidence: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10-min promise -&gt; 30-45 min in Tier-2 (Udit Vani)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Riders penalized for traffic/weather delays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Missing items, wrong items post-rush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9300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529584"/>
            <a:ext cx="2468880" cy="10972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529584"/>
            <a:ext cx="2271369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49300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87171"/>
                </a:solidFill>
                <a:latin typeface="Calibri"/>
              </a:defRPr>
            </a:pPr>
            <a:r>
              <a:t>9.2/10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51560"/>
            <a:ext cx="3749039" cy="274320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15568"/>
            <a:ext cx="3429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1">
                <a:solidFill>
                  <a:srgbClr val="FB923C"/>
                </a:solidFill>
                <a:latin typeface="Calibri"/>
              </a:defRPr>
            </a:pPr>
            <a:r>
              <a:t>PROBLEM 2</a:t>
            </a:r>
          </a:p>
          <a:p>
            <a:pPr>
              <a:spcAft>
                <a:spcPts val="10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Poor Refund &amp; Customer Support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Dashboard Evidence: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Barrier severity: 8.8 / 10  (2nd highest)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RICE Score: 61  --  Status: HIGH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134 mentions of 'Better Refund Process'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Customer Support: Blinkit 58% vs Competitor 70%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Refund bubble: HIGH impact in Sentiment Quadrant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Frustration themes: refund, support = HIGH impact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6B7280"/>
                </a:solidFill>
                <a:latin typeface="Calibri"/>
              </a:defRPr>
            </a:pPr>
            <a:r>
              <a:t>Web Evidence: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No refund for rotten eggs (CurlyTales, Nov 2024)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20-min return window too short (Economic Times)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Auto-responses only, no live agent (Reddit)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9300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3529584"/>
            <a:ext cx="2468880" cy="10972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3529584"/>
            <a:ext cx="2172614" cy="10972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49300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B923C"/>
                </a:solidFill>
                <a:latin typeface="Calibri"/>
              </a:defRPr>
            </a:pPr>
            <a:r>
              <a:t>8.8/10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051560"/>
            <a:ext cx="3749039" cy="274320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115568"/>
            <a:ext cx="3429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1">
                <a:solidFill>
                  <a:srgbClr val="A78BFA"/>
                </a:solidFill>
                <a:latin typeface="Calibri"/>
              </a:defRPr>
            </a:pPr>
            <a:r>
              <a:t>PROBLEM 3</a:t>
            </a:r>
          </a:p>
          <a:p>
            <a:pPr>
              <a:spcAft>
                <a:spcPts val="10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Low New Category Exploration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Dashboard Evidence: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Medium Exploration users declining: -4.8%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Low Exploration segment: STABLE (no growth)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Only High Exploration growing (+11.1%)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'Category Recommendations' RICE: 55 (Low)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Discovery tab: users stick to known categories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Q&amp;A: 'barriers to exploration' = top AI insight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6B7280"/>
                </a:solidFill>
                <a:latin typeface="Calibri"/>
              </a:defRPr>
            </a:pPr>
            <a:r>
              <a:t>Web / PM Evidence: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Head vs tail category conflict (Deepak Krishnan)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~49% users buy only for immediate needs (NextLeap)</a:t>
            </a:r>
          </a:p>
          <a:p>
            <a:pPr>
              <a:spcAft>
                <a:spcPts val="1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  No personalized discovery path in current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9300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529584"/>
            <a:ext cx="2468880" cy="10972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3529584"/>
            <a:ext cx="1604772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09960" y="349300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78BFA"/>
                </a:solidFill>
                <a:latin typeface="Calibri"/>
              </a:defRPr>
            </a:pPr>
            <a:r>
              <a:t>6.5/10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77639"/>
            <a:ext cx="1161288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" y="4160520"/>
            <a:ext cx="5669280" cy="246888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22D3EE"/>
                </a:solidFill>
                <a:latin typeface="Calibri"/>
              </a:defRPr>
            </a:pPr>
            <a:r>
              <a:t>IMPACT SUMMARY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Business Impact: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- Avg Rating: 3.7 / 5 (below 4.0 threshold for app store visibility)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- Frustration mentions cover ~15-20% of all reviews analyzed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- Delivery + Refund barriers alone account for 476+ negative mentions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- Medium/Low exploration users = majority, but NOT growing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- Competitive gap: losing to Zepto (speed), BigBasket (range), Swiggy (UX)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ACC15"/>
                </a:solidFill>
                <a:latin typeface="Calibri"/>
              </a:defRPr>
            </a:pPr>
            <a:r>
              <a:t>User Retention Risk: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Users who hit delivery/refund barriers churn 2-3x faster (industry avg).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Low exploration = low AOV = lower lifetime value per customer.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160520"/>
            <a:ext cx="5760720" cy="246888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206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FACC15"/>
                </a:solidFill>
                <a:latin typeface="Calibri"/>
              </a:defRPr>
            </a:pPr>
            <a:r>
              <a:t>DASHBOARD KPIs AT A GLANCE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Avg Rating ............................... 3.7 / 5</a:t>
            </a: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Total Barriers Tracked ................... 15+</a:t>
            </a: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Frustration Themes (NLP) ................. 8+</a:t>
            </a: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Unmet Needs Identified ................... 12+</a:t>
            </a: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Top Opportunity (RICE) ................... Faster ETAs (87)</a:t>
            </a:r>
          </a:p>
          <a:p>
            <a:pPr>
              <a:spcAft>
                <a:spcPts val="100"/>
              </a:spcAft>
              <a:defRPr sz="1000" b="0">
                <a:solidFill>
                  <a:srgbClr val="F87171"/>
                </a:solidFill>
                <a:latin typeface="Calibri"/>
              </a:defRPr>
            </a:pPr>
            <a:r>
              <a:t>Delivery Gap vs Zepto .................... -13%</a:t>
            </a:r>
          </a:p>
          <a:p>
            <a:pPr>
              <a:spcAft>
                <a:spcPts val="100"/>
              </a:spcAft>
              <a:defRPr sz="1000" b="0">
                <a:solidFill>
                  <a:srgbClr val="F87171"/>
                </a:solidFill>
                <a:latin typeface="Calibri"/>
              </a:defRPr>
            </a:pPr>
            <a:r>
              <a:t>Support Gap vs Competitors ............... -12%</a:t>
            </a:r>
          </a:p>
          <a:p>
            <a:pPr>
              <a:spcAft>
                <a:spcPts val="100"/>
              </a:spcAft>
              <a:defRPr sz="1000" b="0">
                <a:solidFill>
                  <a:srgbClr val="FB923C"/>
                </a:solidFill>
                <a:latin typeface="Calibri"/>
              </a:defRPr>
            </a:pPr>
            <a:r>
              <a:t>Medium Exploration Trend ................. -4.8% (declining)</a:t>
            </a:r>
          </a:p>
          <a:p>
            <a:pPr>
              <a:spcAft>
                <a:spcPts val="100"/>
              </a:spcAft>
              <a:defRPr sz="1000" b="0">
                <a:solidFill>
                  <a:srgbClr val="34D399"/>
                </a:solidFill>
                <a:latin typeface="Calibri"/>
              </a:defRPr>
            </a:pPr>
            <a:r>
              <a:t>High Exploration Trend ................... +11.1% (but small 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ACC15"/>
                </a:solidFill>
                <a:latin typeface="Calibri"/>
              </a:defRPr>
            </a:pPr>
            <a:r>
              <a:t>3 PM-Backed Solutions for Blinkit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Calibri"/>
              </a:defRPr>
            </a:pPr>
            <a:r>
              <a:t>Frameworks: RICE Prioritization  |  JTBD (Jobs To Be Done)  |  Zepto Dark Store Model  |  Smart Basket (NextLeap PM Case Study)  |  Swiggy Separate 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2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3749039" cy="37033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1">
                <a:solidFill>
                  <a:srgbClr val="34D399"/>
                </a:solidFill>
                <a:latin typeface="Calibri"/>
              </a:defRPr>
            </a:pPr>
            <a:r>
              <a:t>SOLUTION 1  --  Solves Problem 1</a:t>
            </a:r>
          </a:p>
          <a:p>
            <a:pPr>
              <a:spcAft>
                <a:spcPts val="100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Predictive ETA + Smart Routing Engine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What: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AI-powered dynamic ETA that factors in real-time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traffic, weather, dark store load, and rider density.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Show honest ETA ranges (e.g. '12-18 min') instead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of aspirational '10 min'. Under-promise, over-deliver.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22D3EE"/>
                </a:solidFill>
                <a:latin typeface="Calibri"/>
              </a:defRPr>
            </a:pPr>
            <a:r>
              <a:t>PM Framework -- JTBD:</a:t>
            </a:r>
          </a:p>
          <a:p>
            <a:pPr>
              <a:spcAft>
                <a:spcPts val="100"/>
              </a:spcAft>
              <a:defRPr sz="900" b="0">
                <a:solidFill>
                  <a:srgbClr val="22D3EE"/>
                </a:solidFill>
                <a:latin typeface="Calibri"/>
              </a:defRPr>
            </a:pPr>
            <a:r>
              <a:t>  WHEN I order urgently, I want to KNOW exactly when</a:t>
            </a:r>
          </a:p>
          <a:p>
            <a:pPr>
              <a:spcAft>
                <a:spcPts val="100"/>
              </a:spcAft>
              <a:defRPr sz="900" b="0">
                <a:solidFill>
                  <a:srgbClr val="22D3EE"/>
                </a:solidFill>
                <a:latin typeface="Calibri"/>
              </a:defRPr>
            </a:pPr>
            <a:r>
              <a:t>  it will arrive SO I can plan accordingly.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How (from Zepto's playbook):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1. Real-time demand heatmaps per dark store zone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2. Rider allocation AI: match closest + fastest rider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3. Proactive delay notification if ETA will slip &gt;5 min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4. Tier-2 city: increase dark store density gradually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ACC15"/>
                </a:solidFill>
                <a:latin typeface="Calibri"/>
              </a:defRPr>
            </a:pPr>
            <a:r>
              <a:t>Expected Impact: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RICE: 87 -&gt; resolves top-1 critical barrier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Target: reduce delivery complaints by 40-50%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Competitive: close 13% gap vs Zepto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51560"/>
            <a:ext cx="3749039" cy="37033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115568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1">
                <a:solidFill>
                  <a:srgbClr val="FB923C"/>
                </a:solidFill>
                <a:latin typeface="Calibri"/>
              </a:defRPr>
            </a:pPr>
            <a:r>
              <a:t>SOLUTION 2  --  Solves Problem 2</a:t>
            </a:r>
          </a:p>
          <a:p>
            <a:pPr>
              <a:spcAft>
                <a:spcPts val="100"/>
              </a:spcAft>
              <a:defRPr sz="1300" b="1">
                <a:solidFill>
                  <a:srgbClr val="FB923C"/>
                </a:solidFill>
                <a:latin typeface="Calibri"/>
              </a:defRPr>
            </a:pPr>
            <a:r>
              <a:t>Instant Resolution Engine + Extended Returns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What: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Replace bot-only support with tiered resolution: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Auto-refund for items &lt;Rs.200 (no questions asked).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Extend return window from 20 min to 2 hours for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quality issues. Live agent escalation within 90 sec.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22D3EE"/>
                </a:solidFill>
                <a:latin typeface="Calibri"/>
              </a:defRPr>
            </a:pPr>
            <a:r>
              <a:t>PM Framework -- RICE:</a:t>
            </a:r>
          </a:p>
          <a:p>
            <a:pPr>
              <a:spcAft>
                <a:spcPts val="100"/>
              </a:spcAft>
              <a:defRPr sz="900" b="0">
                <a:solidFill>
                  <a:srgbClr val="22D3EE"/>
                </a:solidFill>
                <a:latin typeface="Calibri"/>
              </a:defRPr>
            </a:pPr>
            <a:r>
              <a:t>  Reach: 134+ mentions. Impact: 8.8/10.</a:t>
            </a:r>
          </a:p>
          <a:p>
            <a:pPr>
              <a:spcAft>
                <a:spcPts val="100"/>
              </a:spcAft>
              <a:defRPr sz="900" b="0">
                <a:solidFill>
                  <a:srgbClr val="22D3EE"/>
                </a:solidFill>
                <a:latin typeface="Calibri"/>
              </a:defRPr>
            </a:pPr>
            <a:r>
              <a:t>  Confidence: HIGH (web data confirms). Effort: MEDIUM.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How: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1. Photo-based auto-approval for damaged items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2. Instant wallet credit (not coupons with expiry)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3. 'Trust Score' for repeat users: auto-approve refunds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4. 24/7 live chat with &lt;90 sec first response SLA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ACC15"/>
                </a:solidFill>
                <a:latin typeface="Calibri"/>
              </a:defRPr>
            </a:pPr>
            <a:r>
              <a:t>Expected Impact: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Close 12% customer support gap vs competitors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Target: 60% reduction in negative refund mentions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Improve avg rating from 3.7 -&gt; 4.0+ within 2 quarters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749039" cy="37033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15568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1">
                <a:solidFill>
                  <a:srgbClr val="A78BFA"/>
                </a:solidFill>
                <a:latin typeface="Calibri"/>
              </a:defRPr>
            </a:pPr>
            <a:r>
              <a:t>SOLUTION 3  --  Solves Problem 3</a:t>
            </a:r>
          </a:p>
          <a:p>
            <a:pPr>
              <a:spcAft>
                <a:spcPts val="10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AI Discovery Engine + Smart Basket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What: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Personalized category discovery to convert Medium/Low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exploration users into High exploration. AI-curated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'Discover New' carousel + Smart Basket auto-restock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with bundled items from unexplored categories.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22D3EE"/>
                </a:solidFill>
                <a:latin typeface="Calibri"/>
              </a:defRPr>
            </a:pPr>
            <a:r>
              <a:t>PM Framework -- JTBD:</a:t>
            </a:r>
          </a:p>
          <a:p>
            <a:pPr>
              <a:spcAft>
                <a:spcPts val="100"/>
              </a:spcAft>
              <a:defRPr sz="900" b="0">
                <a:solidFill>
                  <a:srgbClr val="22D3EE"/>
                </a:solidFill>
                <a:latin typeface="Calibri"/>
              </a:defRPr>
            </a:pPr>
            <a:r>
              <a:t>  WHEN I reorder my usual items, HELP ME discover</a:t>
            </a:r>
          </a:p>
          <a:p>
            <a:pPr>
              <a:spcAft>
                <a:spcPts val="100"/>
              </a:spcAft>
              <a:defRPr sz="900" b="0">
                <a:solidFill>
                  <a:srgbClr val="22D3EE"/>
                </a:solidFill>
                <a:latin typeface="Calibri"/>
              </a:defRPr>
            </a:pPr>
            <a:r>
              <a:t>  relevant new products SO I can expand my basket</a:t>
            </a:r>
          </a:p>
          <a:p>
            <a:pPr>
              <a:spcAft>
                <a:spcPts val="100"/>
              </a:spcAft>
              <a:defRPr sz="900" b="0">
                <a:solidFill>
                  <a:srgbClr val="22D3EE"/>
                </a:solidFill>
                <a:latin typeface="Calibri"/>
              </a:defRPr>
            </a:pPr>
            <a:r>
              <a:t>  without extra effort or delivery charges.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How (from NextLeap + Swiggy Instamart insights):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1. 'Try Something New' section: 1-2 tail-category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   items added to cart suggestions at checkout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2. Smart Basket: AI restocking + new item sampling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3. Category-specific fulfillment (Swiggy model) for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   wider tail catalog without slowing head delivery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4. Gamified exploration: 'Explore 3 new categories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   this month -&gt; unlock free delivery credits'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ACC15"/>
                </a:solidFill>
                <a:latin typeface="Calibri"/>
              </a:defRPr>
            </a:pPr>
            <a:r>
              <a:t>Expected Impact: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Reverse Medium Exploration decline (-4.8% -&gt; +5%)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Increase AOV by 15-20% via cross-category discovery</a:t>
            </a:r>
          </a:p>
          <a:p>
            <a:pPr>
              <a:spcAft>
                <a:spcPts val="100"/>
              </a:spcAft>
              <a:defRPr sz="900" b="0">
                <a:solidFill>
                  <a:srgbClr val="FACC15"/>
                </a:solidFill>
                <a:latin typeface="Calibri"/>
              </a:defRPr>
            </a:pPr>
            <a:r>
              <a:t>  Convert Low Exploration stable users into 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937760"/>
            <a:ext cx="1161288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5120640"/>
            <a:ext cx="7772400" cy="155448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22D3EE"/>
                </a:solidFill>
                <a:latin typeface="Calibri"/>
              </a:defRPr>
            </a:pPr>
            <a:r>
              <a:t>PRIORITIZATION ROADMAP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Q1 (Immediate):  Solution 2 -- Instant Resolution Engine (low effort, high impact on rating)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Quick win: auto-refund + extended returns. Directly improves 3.7 -&gt; 4.0 rating.</a:t>
            </a: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Q2 (Short-term):  Solution 1 -- Predictive ETA (medium effort, critical severity)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Addresses #1 barrier. Requires ML model + dark store instrumentation.</a:t>
            </a: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Q3 (Medium-term): Solution 3 -- AI Discovery Engine (higher effort, long-term AOV growth)</a:t>
            </a:r>
          </a:p>
          <a:p>
            <a:pPr>
              <a:spcAft>
                <a:spcPts val="1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  Drives category exploration + retention. Needs recommendation engine + UX redesign.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120640"/>
            <a:ext cx="3657600" cy="155448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51663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FACC15"/>
                </a:solidFill>
                <a:latin typeface="Calibri"/>
              </a:defRPr>
            </a:pPr>
            <a:r>
              <a:t>SUCCESS METRICS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Avg Rating: 3.7 -&gt; 4.2+ (2 quarters)</a:t>
            </a:r>
          </a:p>
          <a:p>
            <a:pPr>
              <a:spcAft>
                <a:spcPts val="100"/>
              </a:spcAft>
              <a:defRPr sz="1000" b="0">
                <a:solidFill>
                  <a:srgbClr val="34D399"/>
                </a:solidFill>
                <a:latin typeface="Calibri"/>
              </a:defRPr>
            </a:pPr>
            <a:r>
              <a:t>Delivery Complaints: -40%</a:t>
            </a:r>
          </a:p>
          <a:p>
            <a:pPr>
              <a:spcAft>
                <a:spcPts val="100"/>
              </a:spcAft>
              <a:defRPr sz="1000" b="0">
                <a:solidFill>
                  <a:srgbClr val="34D399"/>
                </a:solidFill>
                <a:latin typeface="Calibri"/>
              </a:defRPr>
            </a:pPr>
            <a:r>
              <a:t>Refund Resolution Time: &lt;2 min</a:t>
            </a:r>
          </a:p>
          <a:p>
            <a:pPr>
              <a:spcAft>
                <a:spcPts val="100"/>
              </a:spcAft>
              <a:defRPr sz="1000" b="0">
                <a:solidFill>
                  <a:srgbClr val="34D399"/>
                </a:solidFill>
                <a:latin typeface="Calibri"/>
              </a:defRPr>
            </a:pPr>
            <a:r>
              <a:t>Medium Exploration: -4.8% -&gt; +5%</a:t>
            </a:r>
          </a:p>
          <a:p>
            <a:pPr>
              <a:spcAft>
                <a:spcPts val="100"/>
              </a:spcAft>
              <a:defRPr sz="1000" b="0">
                <a:solidFill>
                  <a:srgbClr val="34D399"/>
                </a:solidFill>
                <a:latin typeface="Calibri"/>
              </a:defRPr>
            </a:pPr>
            <a:r>
              <a:t>AOV Increase: +15-20%</a:t>
            </a:r>
          </a:p>
          <a:p>
            <a:pPr>
              <a:spcAft>
                <a:spcPts val="100"/>
              </a:spcAft>
              <a:defRPr sz="1000" b="0">
                <a:solidFill>
                  <a:srgbClr val="34D399"/>
                </a:solidFill>
                <a:latin typeface="Calibri"/>
              </a:defRPr>
            </a:pPr>
            <a:r>
              <a:t>Support Gap: 58% -&gt; 72% (parity)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